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254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9DB8D6"/>
                </a:solidFill>
                <a:latin typeface="맑은 고딕"/>
              </a:rPr>
              <a:t>집다움(Jipdaum)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Spring Boot 2차 개발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7D4E3"/>
                </a:solidFill>
                <a:latin typeface="맑은 고딕"/>
              </a:rPr>
              <a:t>백엔드(Spring Boot) 파트 · 2차 스프린트 작업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DB8D6"/>
                </a:solidFill>
                <a:latin typeface="맑은 고딕"/>
              </a:rPr>
              <a:t>2026-07-01 ~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80ED"/>
                </a:solidFill>
                <a:latin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A46"/>
                </a:solidFill>
                <a:latin typeface="맑은 고딕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470"/>
                </a:solidFill>
                <a:latin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0"/>
                </a:solidFill>
                <a:latin typeface="맑은 고딕"/>
              </a:rPr>
              <a:t>집다움 프로젝트 · Spring Boot 2차 개발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51760" cy="32918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F80ED"/>
                </a:solidFill>
                <a:latin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12A46"/>
                </a:solidFill>
                <a:latin typeface="맑은 고딕"/>
              </a:rPr>
              <a:t>개발 환경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286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0"/>
                </a:solidFill>
                <a:latin typeface="맑은 고딕"/>
              </a:rPr>
              <a:t>기술 스택 · 인프라 구성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828800"/>
            <a:ext cx="2651760" cy="32918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0574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F80ED"/>
                </a:solidFill>
                <a:latin typeface="맑은 고딕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974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12A46"/>
                </a:solidFill>
                <a:latin typeface="맑은 고딕"/>
              </a:rPr>
              <a:t>설계 문서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200400"/>
            <a:ext cx="2286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0"/>
                </a:solidFill>
                <a:latin typeface="맑은 고딕"/>
              </a:rPr>
              <a:t>도메인 모델(ERD) · 레이어드 아키텍처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28800"/>
            <a:ext cx="2651760" cy="32918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F80ED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974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12A46"/>
                </a:solidFill>
                <a:latin typeface="맑은 고딕"/>
              </a:rPr>
              <a:t>2차 작업 요약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00400"/>
            <a:ext cx="2286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0"/>
                </a:solidFill>
                <a:latin typeface="맑은 고딕"/>
              </a:rPr>
              <a:t>결제/주문/쿠폰 · 인증 · DB 마이그레이션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828800"/>
            <a:ext cx="2651760" cy="32918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0574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2F80ED"/>
                </a:solidFill>
                <a:latin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6974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12A46"/>
                </a:solidFill>
                <a:latin typeface="맑은 고딕"/>
              </a:rPr>
              <a:t>향후 과제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200400"/>
            <a:ext cx="2286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470"/>
                </a:solidFill>
                <a:latin typeface="맑은 고딕"/>
              </a:rPr>
              <a:t>알려진 이슈 · 남은 작업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80ED"/>
                </a:solidFill>
                <a:latin typeface="맑은 고딕"/>
              </a:rPr>
              <a:t>01 · DEVELOPMENT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A46"/>
                </a:solidFill>
                <a:latin typeface="맑은 고딕"/>
              </a:rPr>
              <a:t>개발 환경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470"/>
                </a:solidFill>
                <a:latin typeface="맑은 고딕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0"/>
                </a:solidFill>
                <a:latin typeface="맑은 고딕"/>
              </a:rPr>
              <a:t>집다움 프로젝트 · Spring Boot 2차 개발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12A46"/>
                </a:solidFill>
                <a:latin typeface="맑은 고딕"/>
              </a:rPr>
              <a:t>언어 · 프레임워크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Java 17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Spring Boot 3.4.7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Spring Data JPA / Security / Validation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Spring WebFlux, OAuth2 Client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Maven (mvnw)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12A46"/>
                </a:solidFill>
                <a:latin typeface="맑은 고딕"/>
              </a:rPr>
              <a:t>인증 · 외부 연동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JWT (jjwt 0.12.6)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소셜 로그인: Kakao / Naver / Google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PortOne 결제 연동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hCaptcha, 이메일 OTP(Mail)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12A46"/>
                </a:solidFill>
                <a:latin typeface="맑은 고딕"/>
              </a:rPr>
              <a:t>DB · 인프라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MySQL 3306 (jibdaum DB)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Django 백엔드와 동일 인스턴스 공유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ddl-auto: none (스키마는 Django가 소유)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컨테이너는 Django 저장소 docker-compose가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7360920" cy="2148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12A46"/>
                </a:solidFill>
                <a:latin typeface="맑은 고딕"/>
              </a:rPr>
              <a:t>협업 · 문서화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application.yml은 시크릿 포함 → git 미포함, .example 파일로 온보딩 지원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jwt.secret은 Django SECRET_KEY와 동일 값 사용 → 양쪽 토큰 호환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CLAUDE.md에 인수인계 정보(DB, 인증 분담) 정리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mvnw 테스트: 24개 전체 통과 (MySQL 컨테이너 기동 시)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931920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12A46"/>
                </a:solidFill>
                <a:latin typeface="맑은 고딕"/>
              </a:rPr>
              <a:t>알려진 제약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spring.mail은 더미 SMTP → 실제 메일 미발송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실발송 테스트 시 Gmail 앱 비밀번호 교체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80ED"/>
                </a:solidFill>
                <a:latin typeface="맑은 고딕"/>
              </a:rPr>
              <a:t>02 · DESIGN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A46"/>
                </a:solidFill>
                <a:latin typeface="맑은 고딕"/>
              </a:rPr>
              <a:t>설계 문서 — 도메인 모델(ERD)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470"/>
                </a:solidFill>
                <a:latin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0"/>
                </a:solidFill>
                <a:latin typeface="맑은 고딕"/>
              </a:rPr>
              <a:t>집다움 프로젝트 · Spring Boot 2차 개발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0"/>
                </a:solidFill>
                <a:latin typeface="맑은 고딕"/>
              </a:rPr>
              <a:t>Spring이 직접 소유/관리하는 핵심 테이블 (JPA 엔티티 기준)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74519"/>
          <a:ext cx="11064240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834640"/>
                <a:gridCol w="4937760"/>
              </a:tblGrid>
              <a:tr h="38404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맑은 고딕"/>
                        </a:rPr>
                        <a:t>테이블 / 엔티티</a:t>
                      </a:r>
                    </a:p>
                  </a:txBody>
                  <a:tcPr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맑은 고딕"/>
                        </a:rPr>
                        <a:t>관계 · 비고</a:t>
                      </a:r>
                    </a:p>
                  </a:txBody>
                  <a:tcPr anchor="ctr">
                    <a:solidFill>
                      <a:srgbClr val="112A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</a:rPr>
                        <a:t>JIPDAUM_USER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회원(Django 공용)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email, nickname, password, emailVerified, active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</a:rPr>
                        <a:t>users</a:t>
                      </a:r>
                    </a:p>
                  </a:txBody>
                  <a:tcPr anchor="ctr" marT="50800" marB="508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소셜 로그인 계정(Spring 전용)</a:t>
                      </a:r>
                    </a:p>
                  </a:txBody>
                  <a:tcPr anchor="ctr" marT="50800" marB="508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email, name, provider, providerId, role</a:t>
                      </a:r>
                    </a:p>
                  </a:txBody>
                  <a:tcPr anchor="ctr" marT="50800" marB="50800">
                    <a:solidFill>
                      <a:srgbClr val="F4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</a:rPr>
                        <a:t>PRODUCT / CATEGORY / PRODUCT_OPTION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상품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상품–옵션(1:N), 상품–카테고리(N:1)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</a:rPr>
                        <a:t>REVIEW</a:t>
                      </a:r>
                    </a:p>
                  </a:txBody>
                  <a:tcPr anchor="ctr" marT="50800" marB="508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상품 리뷰</a:t>
                      </a:r>
                    </a:p>
                  </a:txBody>
                  <a:tcPr anchor="ctr" marT="50800" marB="508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상품–리뷰(1:N)</a:t>
                      </a:r>
                    </a:p>
                  </a:txBody>
                  <a:tcPr anchor="ctr" marT="50800" marB="50800">
                    <a:solidFill>
                      <a:srgbClr val="F4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</a:rPr>
                        <a:t>CART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장바구니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회원–장바구니(1:N)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</a:rPr>
                        <a:t>JIPDAUM_ORDER / ORDER_ITEM</a:t>
                      </a:r>
                    </a:p>
                  </a:txBody>
                  <a:tcPr anchor="ctr" marT="50800" marB="508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주문</a:t>
                      </a:r>
                    </a:p>
                  </a:txBody>
                  <a:tcPr anchor="ctr" marT="50800" marB="508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주문–주문항목(1:N), carrier/trackingNumber(배송 추적)</a:t>
                      </a:r>
                    </a:p>
                  </a:txBody>
                  <a:tcPr anchor="ctr" marT="50800" marB="50800">
                    <a:solidFill>
                      <a:srgbClr val="F4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</a:rPr>
                        <a:t>PAYMENT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결제(PortOne)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주문–결제(1:1)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</a:rPr>
                        <a:t>COUPON / USER_COUPON</a:t>
                      </a:r>
                    </a:p>
                  </a:txBody>
                  <a:tcPr anchor="ctr" marT="50800" marB="508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쿠폰</a:t>
                      </a:r>
                    </a:p>
                  </a:txBody>
                  <a:tcPr anchor="ctr" marT="50800" marB="508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회원–보유쿠폰(1:N)</a:t>
                      </a:r>
                    </a:p>
                  </a:txBody>
                  <a:tcPr anchor="ctr" marT="50800" marB="50800">
                    <a:solidFill>
                      <a:srgbClr val="F4F6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맑은 고딕"/>
                        </a:rPr>
                        <a:t>BLACKLISTED_TOKEN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로그아웃 JWT 무효화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로그아웃 시 토큰 블랙리스트 등록</a:t>
                      </a:r>
                    </a:p>
                  </a:txBody>
                  <a:tcPr anchor="ctr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80ED"/>
                </a:solidFill>
                <a:latin typeface="맑은 고딕"/>
              </a:rPr>
              <a:t>02 · DESIGN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A46"/>
                </a:solidFill>
                <a:latin typeface="맑은 고딕"/>
              </a:rPr>
              <a:t>설계 문서 — 레이어드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470"/>
                </a:solidFill>
                <a:latin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0"/>
                </a:solidFill>
                <a:latin typeface="맑은 고딕"/>
              </a:rPr>
              <a:t>집다움 프로젝트 · Spring Boot 2차 개발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64240" cy="987552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0ED"/>
                </a:solidFill>
                <a:latin typeface="맑은 고딕"/>
              </a:rPr>
              <a:t>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F2937"/>
                </a:solidFill>
                <a:latin typeface="맑은 고딕"/>
              </a:rPr>
              <a:t>AuthController · UserController · ProductController · CartController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1F2937"/>
                </a:solidFill>
                <a:latin typeface="맑은 고딕"/>
              </a:rPr>
              <a:t>OrderController · CouponController · AdminProductController · ChatController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06440" y="2496312"/>
            <a:ext cx="274320" cy="182880"/>
          </a:xfrm>
          <a:prstGeom prst="downArrow">
            <a:avLst/>
          </a:prstGeom>
          <a:solidFill>
            <a:srgbClr val="5A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679192"/>
            <a:ext cx="1106424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88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0ED"/>
                </a:solidFill>
                <a:latin typeface="맑은 고딕"/>
              </a:rP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70632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F2937"/>
                </a:solidFill>
                <a:latin typeface="맑은 고딕"/>
              </a:rPr>
              <a:t>UserAuthService · ProductService · CartService · OrderService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1F2937"/>
                </a:solidFill>
                <a:latin typeface="맑은 고딕"/>
              </a:rPr>
              <a:t>CouponService · AdminProductService · ChatService · TrackingProvider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806440" y="3666744"/>
            <a:ext cx="274320" cy="182880"/>
          </a:xfrm>
          <a:prstGeom prst="downArrow">
            <a:avLst/>
          </a:prstGeom>
          <a:solidFill>
            <a:srgbClr val="5A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849624"/>
            <a:ext cx="11064240" cy="987552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9593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0ED"/>
                </a:solidFill>
                <a:latin typeface="맑은 고딕"/>
              </a:rP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941064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F2937"/>
                </a:solidFill>
                <a:latin typeface="맑은 고딕"/>
              </a:rPr>
              <a:t>JwtTokenProvider / JwtAuthenticationFilter · OAuth2(Kakao/Naver/Google)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1F2937"/>
                </a:solidFill>
                <a:latin typeface="맑은 고딕"/>
              </a:rPr>
              <a:t>HCaptchaVerifier · JipdaumUserProvisioner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806440" y="4837176"/>
            <a:ext cx="274320" cy="182880"/>
          </a:xfrm>
          <a:prstGeom prst="downArrow">
            <a:avLst/>
          </a:prstGeom>
          <a:solidFill>
            <a:srgbClr val="5A6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020056"/>
            <a:ext cx="11064240" cy="987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29784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F80ED"/>
                </a:solidFill>
                <a:latin typeface="맑은 고딕"/>
              </a:rPr>
              <a:t>Domain / 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111496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F2937"/>
                </a:solidFill>
                <a:latin typeface="맑은 고딕"/>
              </a:rPr>
              <a:t>JipdaumUser · Product · Order · Payment · Coupon · Cart · Review · Token (JPA + Spring Data Repository)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80ED"/>
                </a:solidFill>
                <a:latin typeface="맑은 고딕"/>
              </a:rPr>
              <a:t>03 · WORK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A46"/>
                </a:solidFill>
                <a:latin typeface="맑은 고딕"/>
              </a:rPr>
              <a:t>2차 작업 요약 (1) — 핵심 기능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470"/>
                </a:solidFill>
                <a:latin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0"/>
                </a:solidFill>
                <a:latin typeface="맑은 고딕"/>
              </a:rPr>
              <a:t>집다움 프로젝트 · Spring Boot 2차 개발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12A46"/>
                </a:solidFill>
                <a:latin typeface="맑은 고딕"/>
              </a:rPr>
              <a:t>결제 · 주문 · 쿠폰 · 상품 API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PortOne 연동 결제 시스템 구축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주문/주문항목/쿠폰/상품 API 신규 구현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결제·인증 보안 취약점 수정 및 서비스 계층 정리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주문 배송 추적(carrier/trackingNumber) 기능 추가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주문 생성 시 carrier/tracking_number NULL 제약 위반 버그 수정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12A46"/>
                </a:solidFill>
                <a:latin typeface="맑은 고딕"/>
              </a:rPr>
              <a:t>인증 · 회원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소셜 로그인(Kakao/Naver/Google) 안정화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회원 탈퇴 기능 구현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장고 Users 앱의 로컬 계정 인증 이관 검토 후,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  → 최종적으로 패스워드 인증은 Django에 유지 확정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로컬 인증 API를 프론트엔드 계약(/api/users/*)에 맞춰 정리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11064240" cy="2057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12A46"/>
                </a:solidFill>
                <a:latin typeface="맑은 고딕"/>
              </a:rPr>
              <a:t>기타 기능 · 협업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Django-Spring 기능 감사 결과 반영, 챗봇/카테고리 API 포팅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Django ↔ Spring 역할 분담 확정 및 문서화 (HANDOFF_AUTH_SCOPE.md)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→ 소셜로그인/상품/장바구니/주문/쿠폰 등은 Spring, 패스워드 인증만 Django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80ED"/>
                </a:solidFill>
                <a:latin typeface="맑은 고딕"/>
              </a:rPr>
              <a:t>03 · WORK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A46"/>
                </a:solidFill>
                <a:latin typeface="맑은 고딕"/>
              </a:rPr>
              <a:t>2차 작업 요약 (2) — DB · 인프라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470"/>
                </a:solidFill>
                <a:latin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0"/>
                </a:solidFill>
                <a:latin typeface="맑은 고딕"/>
              </a:rPr>
              <a:t>집다움 프로젝트 · Spring Boot 2차 개발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12A46"/>
                </a:solidFill>
                <a:latin typeface="맑은 고딕"/>
              </a:rPr>
              <a:t>DB 마이그레이션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Oracle → MySQL(jibdaum) 드라이버·설정 전환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Oracle 전용 SYSDATE 등 방언 의존 코드 제거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Django 백엔드와 동일 MySQL 인스턴스 공유 구조로 전환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ddl-auto: none 고정 — 스키마는 Django 마이그레이션이 소유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12A46"/>
                </a:solidFill>
                <a:latin typeface="맑은 고딕"/>
              </a:rPr>
              <a:t>스키마 · 네이밍 정합성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Hibernate 물리 네이밍 전략을 표준 전략으로 고정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Spring 소유 테이블(users, BLACKLISTED_TOKEN 등) 자동 프로비저닝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Django 공유 테이블과 컬럼/네이밍 불일치 리스크 제거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11064240" cy="2057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12A46"/>
                </a:solidFill>
                <a:latin typeface="맑은 고딕"/>
              </a:rPr>
              <a:t>인수인계 · 빌드 정리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CLAUDE.md, application.yml.example 추가 — 신규 PC 온보딩 지원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pom.xml 파싱 오류 수정, 미사용 import 정리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mvnw 실행 권한 복구 및 파일 끝 개행 정리, Claude Code 설정 gitignore 처리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80ED"/>
                </a:solidFill>
                <a:latin typeface="맑은 고딕"/>
              </a:rPr>
              <a:t>04 ·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2A46"/>
                </a:solidFill>
                <a:latin typeface="맑은 고딕"/>
              </a:rPr>
              <a:t>향후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19050"/>
          </a:xfrm>
          <a:prstGeom prst="rect">
            <a:avLst/>
          </a:prstGeom>
          <a:solidFill>
            <a:srgbClr val="E2E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A6470"/>
                </a:solidFill>
                <a:latin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0"/>
                </a:solidFill>
                <a:latin typeface="맑은 고딕"/>
              </a:rPr>
              <a:t>집다움 프로젝트 · Spring Boot 2차 개발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12A46"/>
                </a:solidFill>
                <a:latin typeface="맑은 고딕"/>
              </a:rPr>
              <a:t>알려진 이슈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spring.mail이 더미 SMTP 값 → 실제 메일 미발송 상태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실발송 테스트를 위해 실제 Gmail 앱 비밀번호로 교체 필요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/me 응답의 nickname이 Django 공유 컬럼과 실제 동기화되는지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  별도 확인 필요 (HANDOFF_AUTH_SCOPE.md 지적 사항)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E2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12A46"/>
                </a:solidFill>
                <a:latin typeface="맑은 고딕"/>
              </a:rPr>
              <a:t>정리 예정 작업 (Django 측)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Products/Orders/coupons/payments 앱 삭제 (Spring으로 완전 이관됨)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Users 앱의 소셜 로그인 관련 죽은 코드(adapters.py) 삭제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세션 로그인 시그널(signals.py) 삭제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1F2937"/>
                </a:solidFill>
                <a:latin typeface="맑은 고딕"/>
              </a:rPr>
              <a:t>· Users 앱은 회원가입/로그인/로그아웃/닉네임체크/이메일OTP만 유지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A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7D4E3"/>
                </a:solidFill>
                <a:latin typeface="맑은 고딕"/>
              </a:rPr>
              <a:t>집다움 프로젝트 · Spring Boot 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